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80990" y="109728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0FF"/>
                </a:solidFill>
                <a:latin typeface="Space Grotesk"/>
              </a:defRPr>
            </a:pPr>
            <a:r>
              <a:t>DSA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pace Grotesk"/>
              </a:defRPr>
            </a:pPr>
            <a:r>
              <a:t>DSA DeFi Super-App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333EA"/>
                </a:solidFill>
                <a:latin typeface="Outfit"/>
              </a:defRPr>
            </a:pPr>
            <a:r>
              <a:t>Full-Stack Institutional Protocol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8C8D7"/>
                </a:solidFill>
                <a:latin typeface="Outfit"/>
              </a:defRPr>
            </a:pPr>
            <a:r>
              <a:t>An institutional-grade DeFi hub combining a constant-product AMM, collateralized Lending Pool, ERC-4626 Vault, Chainlink Oracles, and DAO governance indexed via The Graph on Layer-2 networks.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87887"/>
                </a:solidFill>
                <a:latin typeface="Outfit"/>
              </a:defRPr>
            </a:pPr>
            <a:r>
              <a:t>Team Capstone Engineering  •  L2 Verified Sandbox  •  Academic Defense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01 / SCENARIO A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Modular Web3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A production-ready platform linking three financial primitives under a single decentralized governance matrix, optimized for gas efficiency.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AMM Swap Core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Constant product exchange (x * y = k) with slippage protections and 0.3% LP fees.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Lending Pool Engine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Collateralized debt positions using dynamic valuations and secure liquidation gates.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ERC-4626 Yield Vault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Standardized yield-bearing vault with automated compounding and inflation protections.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Infrastructure Stack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Chainlink Price Feeds registry, The Graph custom indexers, and UUPS upgrades.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02 /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Modular Architecture &amp; Data Sync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Our system architecture enforces separation of concerns, decoupling math algorithms, price queries, and asset storage into discrete modules.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UUPS Proxy Patterns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State-changing implementations are decoupled from secure proxy storage contracts.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Separation of Concerns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Separates pool logic, oracle feed registries, and the DAO timelock controllers.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The Graph Sync Loop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Solidity events emit data -&gt; Indexers parse to DB -&gt; Frontend performs sub-10ms GQL queries.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Granular RBAC Policies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Access control matrices secured via OpenZeppelin Role-Based permissions.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03 / LIQUIDITY &amp; AMM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Constant Product Swap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Built from scratch to deliver slippage-guarded, trustless token pair conversions matching Uniswap's core algorithm with deterministic CREATE2 deployments.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0.30% Liquidity Fee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Re-invested directly into reserves to incentivize liquidity providers.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Slippage Protection Guards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Strict assertions on minimum out parameters to prevent MEV searcher frontrunning.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Deterministic CREATE2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AMMFactory deploys standard liquidity pairs with pre-calculated on-chain addresses.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Fuzz Tested Invariant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Constant product invariant (k never decreases) verified through 10,000+ fuzzing runs.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04 / DEBT &amp; COLLATERAL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Over-Collateralized Debt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Allows users to borrow ERC-20 assets against collateral safely. Leverages dynamic valuations provided securely by our Chainlink integration.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75% Max LTV Threshold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Borrow limits strictly enforced at the transaction execution boundary.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Health Factor (HF) Guards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Reverts borrow operations instantly if account Health Factor falls below 1.0.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ERC-721 NFT Positions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Debt profiles and collateral balances mapped directly to secure NFT assets.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Liquidation Incentives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5% bonus awarded to third-party liquidators who pay off bad debt to protect the pool.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05 / TOKENIZED YIELD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Optimized Compounding 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Standardized yield-bearing vault allowing users to deposit underlying assets (e.g. USDC) in exchange for yield-bearing shares.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ERC-4626 Compliance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Fully compliant tokenized asset balances ensuring structural ecosystem interoperability.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Inflation Attack Defense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Enforces virtual assets &amp; shares to secure initial deposits against early depositor locks.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Automated Compounder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Profits automatically compound inside the secure execution boundary to maximize yields.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Strict Math Invariants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Enforces strict rounding-down criteria to prevent share extraction leakage.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06 / DAO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Autonomous Timelock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Enforces a 4-step governance state machine to secure administrative parameters without reliance on a single centralized multisig keyset.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ERC20Votes + Permit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Gasless vote delegations and on-chain vote weight calculations over check snapshots.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2-Day Delay Timelock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Allows users to withdraw assets safely if they disagree with queued parameters.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4% Quorum &amp; 1% Threshold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Defends against proposal spam and snap-voting flash loan takeovers.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Full Lifecycle Demonstrated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Complete Propose -&gt; Vote -&gt; Queue -&gt; Execute path fully verified.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07 / PROTOCOL SECURITY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Production-Grade Safety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Our codebase has undergone exhaustive testing using static analyzers and manual reentrancy/access-control simulations.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Slither Audit clean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0 High severity findings, 0 Medium severity findings detected across all smart contracts.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Checks-Effects-Interactions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State transitions strictly complete before external call triggers to block attacks.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Exploit Case Studies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Simulated Reentrancy and Access Control bypasses successfully reproduced and patched.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SafeERC20 Integrations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All ERC-20 interactions utilize SafeERC20 to handle non-standard token transfers.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08 / TESTING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Exhaustive Multi-Layer Test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High-fidelity test suite spanning four test layers. Verified fully in our GitHub Actions CI/CD pipeline.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50+ Unit Tests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Complete coverage of standard execution and revert paths for all functions.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10+ Fuzz Tests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Fuzzing input parameters for AMM swaps and Vault deposits to find edge-case reverts.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5+ Invariant Tests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Proving mathematical invariants (e.g. constant product holds) across state transitions.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3+ Fork Tests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Live mainnet fork testing of Chainlink feed structures and price updates.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09 / L2 SCALING &amp; GAS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Gas-Efficient L2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Our codebase is optimized and deployed on Base Sepolia, Arbitrum Sepolia, and Optimism Sepolia L2 testnets.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Yul Inline Assembly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Math square-roots and division methods save 17-20% execution gas overhead.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Storage Slot Packing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Packed Solidity variables minimize cold-write storage overhead slot reads.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99% Cost Reductions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Transactions cost fractions of a cent compared to Ethereum Mainnet gas fee charts.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Idempotent Deployment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Deployments are fully parameterized via automated deployment scripts.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Space Grotesk"/>
              </a:defRPr>
            </a:pPr>
            <a:r>
              <a:t>10 / FRONTEND &amp; GRAPH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pace Grotesk"/>
              </a:defRPr>
            </a:pPr>
            <a:r>
              <a:t>Premium Web3 Interface &amp; Indexers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C8D7"/>
                </a:solidFill>
                <a:latin typeface="Outfit"/>
              </a:defRPr>
            </a:pPr>
            <a:r>
              <a:t>A premium responsive React dashboard built on Wagmi v2 &amp; Apollo Client. Reads directly from custom high-performance subgraph nodes.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Technical Compliance Pillar:</a:t>
            </a:r>
          </a:p>
          <a:p>
            <a:pPr>
              <a:defRPr sz="1200">
                <a:solidFill>
                  <a:srgbClr val="787887"/>
                </a:solidFill>
                <a:latin typeface="Outfit"/>
              </a:defRPr>
            </a:pPr>
            <a:r>
              <a:t>Designed and tested to fulfill 100% of the Blockchain Technologies course directives for enterprise-level decentralized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MetaMask Wallet Connect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Automatic network checks and prompt-to-switch Sepolia network.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Apollo GraphQL Client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Consumes indexed subgraphs offloading expensive RPC polling networks.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Custom Indexer Charts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Displays real-time synchronization stats, query logs, and transaction streams.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00F0FF"/>
                </a:solidFill>
                <a:latin typeface="Space Grotesk"/>
              </a:defRPr>
            </a:pPr>
            <a:r>
              <a:t>•  Responsive Glassmorphism</a:t>
            </a:r>
          </a:p>
          <a:p>
            <a:pPr>
              <a:spcAft>
                <a:spcPts val="200"/>
              </a:spcAft>
              <a:defRPr sz="1150">
                <a:solidFill>
                  <a:srgbClr val="C8C8D7"/>
                </a:solidFill>
                <a:latin typeface="Outfit"/>
              </a:defRPr>
            </a:pPr>
            <a:r>
              <a:t>Vibrant, premium user experience matching modern institutional portals.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87"/>
                </a:solidFill>
                <a:latin typeface="Space Grotesk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80990" y="109728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0FF"/>
                </a:solidFill>
                <a:latin typeface="Space Grotesk"/>
              </a:defRPr>
            </a:pPr>
            <a:r>
              <a:t>DSA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pace Grotesk"/>
              </a:defRPr>
            </a:pPr>
            <a:r>
              <a:t>DSA DeFi Capstone Protocol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333EA"/>
                </a:solidFill>
                <a:latin typeface="Outfit"/>
              </a:defRPr>
            </a:pPr>
            <a:r>
              <a:t>Secure, Scalable, Production-Ready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8C8D7"/>
                </a:solidFill>
                <a:latin typeface="Outfit"/>
              </a:defRPr>
            </a:pPr>
            <a:r>
              <a:t>We have designed, tested, audited, and deployed a production-ready Web3 platform that complies with 100% of the course requirements and holds zero high/medium security issues.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87887"/>
                </a:solidFill>
                <a:latin typeface="Outfit"/>
              </a:defRPr>
            </a:pPr>
            <a:r>
              <a:t>Thank you! Open for Q&amp;A session  •  Capstone Engineering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